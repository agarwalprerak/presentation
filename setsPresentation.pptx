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5" r:id="rId8"/>
    <p:sldId id="266"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pos="3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EB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9" d="100"/>
          <a:sy n="89" d="100"/>
        </p:scale>
        <p:origin x="120" y="156"/>
      </p:cViewPr>
      <p:guideLst>
        <p:guide pos="3840"/>
        <p:guide orient="horz" pos="2160"/>
        <p:guide pos="39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2/11/2020</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2/11/2020</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68415" y="1999818"/>
            <a:ext cx="3655168" cy="1569660"/>
          </a:xfrm>
          <a:prstGeom prst="rect">
            <a:avLst/>
          </a:prstGeom>
          <a:noFill/>
        </p:spPr>
        <p:txBody>
          <a:bodyPr wrap="none" rtlCol="0">
            <a:spAutoFit/>
          </a:bodyPr>
          <a:lstStyle/>
          <a:p>
            <a:r>
              <a:rPr lang="en-US" sz="9600" b="1" dirty="0" smtClean="0">
                <a:effectLst>
                  <a:outerShdw blurRad="38100" dist="38100" dir="2700000" algn="tl">
                    <a:srgbClr val="000000">
                      <a:alpha val="43137"/>
                    </a:srgbClr>
                  </a:outerShdw>
                </a:effectLst>
              </a:rPr>
              <a:t>S E T S</a:t>
            </a:r>
            <a:endParaRPr lang="en-US" sz="9600" b="1" dirty="0">
              <a:effectLst>
                <a:outerShdw blurRad="38100" dist="38100" dir="2700000" algn="tl">
                  <a:srgbClr val="000000">
                    <a:alpha val="43137"/>
                  </a:srgbClr>
                </a:outerShdw>
              </a:effectLst>
            </a:endParaRPr>
          </a:p>
        </p:txBody>
      </p:sp>
      <p:sp>
        <p:nvSpPr>
          <p:cNvPr id="5" name="Rectangle 4"/>
          <p:cNvSpPr/>
          <p:nvPr/>
        </p:nvSpPr>
        <p:spPr>
          <a:xfrm>
            <a:off x="4713642" y="785308"/>
            <a:ext cx="2764715" cy="64545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C O L L E C T I O N S</a:t>
            </a:r>
          </a:p>
        </p:txBody>
      </p:sp>
      <p:sp>
        <p:nvSpPr>
          <p:cNvPr id="8" name="Down Arrow 7"/>
          <p:cNvSpPr/>
          <p:nvPr/>
        </p:nvSpPr>
        <p:spPr>
          <a:xfrm>
            <a:off x="5966908" y="1430768"/>
            <a:ext cx="258184" cy="815370"/>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620817" y="4138528"/>
            <a:ext cx="8950363" cy="16459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721225" y="4235823"/>
            <a:ext cx="8740588" cy="141194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smtClean="0"/>
              <a:t>Unique Property</a:t>
            </a:r>
          </a:p>
          <a:p>
            <a:pPr algn="ctr"/>
            <a:endParaRPr lang="en-US" u="sng" dirty="0" smtClean="0"/>
          </a:p>
          <a:p>
            <a:pPr algn="ctr"/>
            <a:r>
              <a:rPr lang="en-US" dirty="0"/>
              <a:t>A Set is a Collection that cannot contain duplicate </a:t>
            </a:r>
            <a:r>
              <a:rPr lang="en-US" dirty="0" smtClean="0"/>
              <a:t>elements</a:t>
            </a:r>
          </a:p>
          <a:p>
            <a:pPr algn="ctr"/>
            <a:endParaRPr lang="en-US" u="sng" dirty="0"/>
          </a:p>
        </p:txBody>
      </p:sp>
    </p:spTree>
    <p:extLst>
      <p:ext uri="{BB962C8B-B14F-4D97-AF65-F5344CB8AC3E}">
        <p14:creationId xmlns:p14="http://schemas.microsoft.com/office/powerpoint/2010/main" val="26110599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63935" y="184466"/>
            <a:ext cx="3655168" cy="1569660"/>
          </a:xfrm>
          <a:prstGeom prst="rect">
            <a:avLst/>
          </a:prstGeom>
          <a:noFill/>
        </p:spPr>
        <p:txBody>
          <a:bodyPr wrap="none" rtlCol="0">
            <a:spAutoFit/>
          </a:bodyPr>
          <a:lstStyle/>
          <a:p>
            <a:r>
              <a:rPr lang="en-US" sz="9600" b="1" dirty="0" smtClean="0">
                <a:effectLst>
                  <a:outerShdw blurRad="38100" dist="38100" dir="2700000" algn="tl">
                    <a:srgbClr val="000000">
                      <a:alpha val="43137"/>
                    </a:srgbClr>
                  </a:outerShdw>
                </a:effectLst>
              </a:rPr>
              <a:t>S E T S</a:t>
            </a:r>
            <a:endParaRPr lang="en-US" sz="9600" b="1" dirty="0">
              <a:effectLst>
                <a:outerShdw blurRad="38100" dist="38100" dir="2700000" algn="tl">
                  <a:srgbClr val="000000">
                    <a:alpha val="43137"/>
                  </a:srgbClr>
                </a:outerShdw>
              </a:effectLst>
            </a:endParaRPr>
          </a:p>
        </p:txBody>
      </p:sp>
      <p:sp>
        <p:nvSpPr>
          <p:cNvPr id="9" name="Rectangle 8"/>
          <p:cNvSpPr/>
          <p:nvPr/>
        </p:nvSpPr>
        <p:spPr>
          <a:xfrm>
            <a:off x="1721225" y="2678802"/>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28800" y="2810822"/>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The Set interface contains only methods inherited from Collection and adds the restriction that duplicate elements are prohibited. Set also adds a stronger contract on the behavior of the equals and hashCode operations, allowing Set instances to be compared meaningfully even if their implementation types differ. Two Set instances are equal if they contain the same elements.</a:t>
            </a:r>
          </a:p>
        </p:txBody>
      </p:sp>
      <p:sp>
        <p:nvSpPr>
          <p:cNvPr id="2" name="Cloud 1"/>
          <p:cNvSpPr/>
          <p:nvPr/>
        </p:nvSpPr>
        <p:spPr>
          <a:xfrm rot="20615362">
            <a:off x="9322846" y="504044"/>
            <a:ext cx="2487706" cy="1562874"/>
          </a:xfrm>
          <a:prstGeom prst="clou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Uniqueness</a:t>
            </a:r>
            <a:endParaRPr lang="en-US" dirty="0"/>
          </a:p>
        </p:txBody>
      </p:sp>
    </p:spTree>
    <p:extLst>
      <p:ext uri="{BB962C8B-B14F-4D97-AF65-F5344CB8AC3E}">
        <p14:creationId xmlns:p14="http://schemas.microsoft.com/office/powerpoint/2010/main" val="3819733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63935" y="184466"/>
            <a:ext cx="3655168" cy="1569660"/>
          </a:xfrm>
          <a:prstGeom prst="rect">
            <a:avLst/>
          </a:prstGeom>
          <a:noFill/>
        </p:spPr>
        <p:txBody>
          <a:bodyPr wrap="none" rtlCol="0">
            <a:spAutoFit/>
          </a:bodyPr>
          <a:lstStyle/>
          <a:p>
            <a:r>
              <a:rPr lang="en-US" sz="9600" b="1" dirty="0" smtClean="0">
                <a:effectLst>
                  <a:outerShdw blurRad="38100" dist="38100" dir="2700000" algn="tl">
                    <a:srgbClr val="000000">
                      <a:alpha val="43137"/>
                    </a:srgbClr>
                  </a:outerShdw>
                </a:effectLst>
              </a:rPr>
              <a:t>S E T S</a:t>
            </a:r>
            <a:endParaRPr lang="en-US" sz="9600" b="1" dirty="0">
              <a:effectLst>
                <a:outerShdw blurRad="38100" dist="38100" dir="2700000" algn="tl">
                  <a:srgbClr val="000000">
                    <a:alpha val="43137"/>
                  </a:srgbClr>
                </a:outerShdw>
              </a:effectLst>
            </a:endParaRPr>
          </a:p>
        </p:txBody>
      </p:sp>
      <p:sp>
        <p:nvSpPr>
          <p:cNvPr id="3" name="Rounded Rectangle 2"/>
          <p:cNvSpPr/>
          <p:nvPr/>
        </p:nvSpPr>
        <p:spPr>
          <a:xfrm>
            <a:off x="1898724" y="3408112"/>
            <a:ext cx="2756644" cy="67979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HashSet</a:t>
            </a:r>
            <a:endParaRPr lang="en-US" dirty="0"/>
          </a:p>
        </p:txBody>
      </p:sp>
      <p:sp>
        <p:nvSpPr>
          <p:cNvPr id="8" name="Rectangle 7"/>
          <p:cNvSpPr/>
          <p:nvPr/>
        </p:nvSpPr>
        <p:spPr>
          <a:xfrm>
            <a:off x="1898724" y="4750845"/>
            <a:ext cx="8950363" cy="164592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003612" y="4867835"/>
            <a:ext cx="8740588" cy="141194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The </a:t>
            </a:r>
            <a:r>
              <a:rPr lang="en-US" dirty="0"/>
              <a:t>Java platform contains three general-purpose Set implementations: </a:t>
            </a:r>
            <a:r>
              <a:rPr lang="en-US" dirty="0" err="1"/>
              <a:t>HashSet</a:t>
            </a:r>
            <a:r>
              <a:rPr lang="en-US" dirty="0"/>
              <a:t>, </a:t>
            </a:r>
            <a:r>
              <a:rPr lang="en-US" dirty="0" err="1"/>
              <a:t>TreeSet</a:t>
            </a:r>
            <a:r>
              <a:rPr lang="en-US" dirty="0"/>
              <a:t>, and </a:t>
            </a:r>
            <a:r>
              <a:rPr lang="en-US" dirty="0" err="1"/>
              <a:t>LinkedHashSet</a:t>
            </a:r>
            <a:r>
              <a:rPr lang="en-US" dirty="0"/>
              <a:t>.</a:t>
            </a:r>
            <a:endParaRPr lang="en-US" u="sng" dirty="0"/>
          </a:p>
        </p:txBody>
      </p:sp>
      <p:sp>
        <p:nvSpPr>
          <p:cNvPr id="12" name="Rounded Rectangle 11"/>
          <p:cNvSpPr/>
          <p:nvPr/>
        </p:nvSpPr>
        <p:spPr>
          <a:xfrm>
            <a:off x="4899215" y="3422860"/>
            <a:ext cx="2756644" cy="67979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TreeSet</a:t>
            </a:r>
            <a:endParaRPr lang="en-US" dirty="0"/>
          </a:p>
        </p:txBody>
      </p:sp>
      <p:sp>
        <p:nvSpPr>
          <p:cNvPr id="13" name="Rounded Rectangle 12"/>
          <p:cNvSpPr/>
          <p:nvPr/>
        </p:nvSpPr>
        <p:spPr>
          <a:xfrm>
            <a:off x="8092443" y="3422860"/>
            <a:ext cx="2756644" cy="67979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LinkedHashSet</a:t>
            </a:r>
            <a:endParaRPr lang="en-US" dirty="0"/>
          </a:p>
        </p:txBody>
      </p:sp>
      <p:cxnSp>
        <p:nvCxnSpPr>
          <p:cNvPr id="6" name="Straight Arrow Connector 5"/>
          <p:cNvCxnSpPr>
            <a:stCxn id="4" idx="2"/>
          </p:cNvCxnSpPr>
          <p:nvPr/>
        </p:nvCxnSpPr>
        <p:spPr>
          <a:xfrm flipH="1">
            <a:off x="2931459" y="1754126"/>
            <a:ext cx="3160060" cy="1776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 idx="2"/>
          </p:cNvCxnSpPr>
          <p:nvPr/>
        </p:nvCxnSpPr>
        <p:spPr>
          <a:xfrm>
            <a:off x="6091519" y="1754126"/>
            <a:ext cx="0" cy="183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2"/>
          </p:cNvCxnSpPr>
          <p:nvPr/>
        </p:nvCxnSpPr>
        <p:spPr>
          <a:xfrm>
            <a:off x="6091519" y="1754126"/>
            <a:ext cx="3267634" cy="183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9084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39065" y="1112313"/>
            <a:ext cx="2114681" cy="707886"/>
          </a:xfrm>
          <a:prstGeom prst="rect">
            <a:avLst/>
          </a:prstGeom>
          <a:noFill/>
        </p:spPr>
        <p:txBody>
          <a:bodyPr wrap="none" rtlCol="0">
            <a:spAutoFit/>
          </a:bodyPr>
          <a:lstStyle/>
          <a:p>
            <a:r>
              <a:rPr lang="en-US" sz="4000" b="1" dirty="0" err="1" smtClean="0">
                <a:effectLst>
                  <a:outerShdw blurRad="38100" dist="38100" dir="2700000" algn="tl">
                    <a:srgbClr val="000000">
                      <a:alpha val="43137"/>
                    </a:srgbClr>
                  </a:outerShdw>
                </a:effectLst>
              </a:rPr>
              <a:t>Hashset</a:t>
            </a:r>
            <a:endParaRPr lang="en-US" sz="4000" b="1" dirty="0">
              <a:effectLst>
                <a:outerShdw blurRad="38100" dist="38100" dir="2700000" algn="tl">
                  <a:srgbClr val="000000">
                    <a:alpha val="43137"/>
                  </a:srgbClr>
                </a:outerShdw>
              </a:effectLst>
            </a:endParaRPr>
          </a:p>
        </p:txBody>
      </p:sp>
      <p:sp>
        <p:nvSpPr>
          <p:cNvPr id="9" name="Rectangle 8"/>
          <p:cNvSpPr/>
          <p:nvPr/>
        </p:nvSpPr>
        <p:spPr>
          <a:xfrm>
            <a:off x="1721225" y="2678802"/>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28800" y="2810822"/>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It stores the elements in a hash table and is the best-performing implementation. However, it makes no guarantees concerning the order of iteration.</a:t>
            </a:r>
          </a:p>
        </p:txBody>
      </p:sp>
    </p:spTree>
    <p:extLst>
      <p:ext uri="{BB962C8B-B14F-4D97-AF65-F5344CB8AC3E}">
        <p14:creationId xmlns:p14="http://schemas.microsoft.com/office/powerpoint/2010/main" val="1288883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39065" y="1112313"/>
            <a:ext cx="1928733" cy="707886"/>
          </a:xfrm>
          <a:prstGeom prst="rect">
            <a:avLst/>
          </a:prstGeom>
          <a:noFill/>
        </p:spPr>
        <p:txBody>
          <a:bodyPr wrap="none" rtlCol="0">
            <a:spAutoFit/>
          </a:bodyPr>
          <a:lstStyle/>
          <a:p>
            <a:r>
              <a:rPr lang="en-US" sz="4000" b="1" dirty="0" err="1" smtClean="0">
                <a:effectLst>
                  <a:outerShdw blurRad="38100" dist="38100" dir="2700000" algn="tl">
                    <a:srgbClr val="000000">
                      <a:alpha val="43137"/>
                    </a:srgbClr>
                  </a:outerShdw>
                </a:effectLst>
              </a:rPr>
              <a:t>Treeset</a:t>
            </a:r>
            <a:endParaRPr lang="en-US" sz="4000" b="1" dirty="0">
              <a:effectLst>
                <a:outerShdw blurRad="38100" dist="38100" dir="2700000" algn="tl">
                  <a:srgbClr val="000000">
                    <a:alpha val="43137"/>
                  </a:srgbClr>
                </a:outerShdw>
              </a:effectLst>
            </a:endParaRPr>
          </a:p>
        </p:txBody>
      </p:sp>
      <p:sp>
        <p:nvSpPr>
          <p:cNvPr id="9" name="Rectangle 8"/>
          <p:cNvSpPr/>
          <p:nvPr/>
        </p:nvSpPr>
        <p:spPr>
          <a:xfrm>
            <a:off x="1721225" y="2678802"/>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28800" y="2810822"/>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It stores the elements in a red-black tree, orders its elements based on their values. It is substantially slower than </a:t>
            </a:r>
            <a:r>
              <a:rPr lang="en-US" dirty="0" err="1"/>
              <a:t>HashSet</a:t>
            </a:r>
            <a:r>
              <a:rPr lang="en-US" dirty="0"/>
              <a:t>.</a:t>
            </a:r>
          </a:p>
        </p:txBody>
      </p:sp>
    </p:spTree>
    <p:extLst>
      <p:ext uri="{BB962C8B-B14F-4D97-AF65-F5344CB8AC3E}">
        <p14:creationId xmlns:p14="http://schemas.microsoft.com/office/powerpoint/2010/main" val="506669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07502" y="1085419"/>
            <a:ext cx="3776996" cy="707886"/>
          </a:xfrm>
          <a:prstGeom prst="rect">
            <a:avLst/>
          </a:prstGeom>
          <a:noFill/>
        </p:spPr>
        <p:txBody>
          <a:bodyPr wrap="none" rtlCol="0">
            <a:spAutoFit/>
          </a:bodyPr>
          <a:lstStyle/>
          <a:p>
            <a:r>
              <a:rPr lang="en-US" sz="4000" b="1" dirty="0" err="1">
                <a:effectLst>
                  <a:outerShdw blurRad="38100" dist="38100" dir="2700000" algn="tl">
                    <a:srgbClr val="000000">
                      <a:alpha val="43137"/>
                    </a:srgbClr>
                  </a:outerShdw>
                </a:effectLst>
              </a:rPr>
              <a:t>LinkedHashSet</a:t>
            </a:r>
            <a:endParaRPr lang="en-US" sz="4000" b="1" dirty="0">
              <a:effectLst>
                <a:outerShdw blurRad="38100" dist="38100" dir="2700000" algn="tl">
                  <a:srgbClr val="000000">
                    <a:alpha val="43137"/>
                  </a:srgbClr>
                </a:outerShdw>
              </a:effectLst>
            </a:endParaRPr>
          </a:p>
        </p:txBody>
      </p:sp>
      <p:sp>
        <p:nvSpPr>
          <p:cNvPr id="9" name="Rectangle 8"/>
          <p:cNvSpPr/>
          <p:nvPr/>
        </p:nvSpPr>
        <p:spPr>
          <a:xfrm>
            <a:off x="1721225" y="2678802"/>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28800" y="2810822"/>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It is implemented as a hash table with a linked list running through it, orders its elements based on the order in which they were inserted into the set.</a:t>
            </a:r>
          </a:p>
        </p:txBody>
      </p:sp>
    </p:spTree>
    <p:extLst>
      <p:ext uri="{BB962C8B-B14F-4D97-AF65-F5344CB8AC3E}">
        <p14:creationId xmlns:p14="http://schemas.microsoft.com/office/powerpoint/2010/main" val="11006480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79655" y="542433"/>
            <a:ext cx="6240811" cy="707886"/>
          </a:xfrm>
          <a:prstGeom prst="rect">
            <a:avLst/>
          </a:prstGeom>
          <a:noFill/>
        </p:spPr>
        <p:txBody>
          <a:bodyPr wrap="none" rtlCol="0">
            <a:spAutoFit/>
          </a:bodyPr>
          <a:lstStyle/>
          <a:p>
            <a:r>
              <a:rPr lang="en-US" sz="4000" b="1" dirty="0" smtClean="0">
                <a:effectLst>
                  <a:outerShdw blurRad="38100" dist="38100" dir="2700000" algn="tl">
                    <a:srgbClr val="000000">
                      <a:alpha val="43137"/>
                    </a:srgbClr>
                  </a:outerShdw>
                </a:effectLst>
              </a:rPr>
              <a:t>What Sets can do for us?</a:t>
            </a:r>
            <a:endParaRPr lang="en-US" sz="4000" b="1" dirty="0">
              <a:effectLst>
                <a:outerShdw blurRad="38100" dist="38100" dir="2700000" algn="tl">
                  <a:srgbClr val="000000">
                    <a:alpha val="43137"/>
                  </a:srgbClr>
                </a:outerShdw>
              </a:effectLst>
            </a:endParaRPr>
          </a:p>
        </p:txBody>
      </p:sp>
      <p:sp>
        <p:nvSpPr>
          <p:cNvPr id="9" name="Rectangle 8"/>
          <p:cNvSpPr/>
          <p:nvPr/>
        </p:nvSpPr>
        <p:spPr>
          <a:xfrm>
            <a:off x="1775013" y="1616485"/>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82588" y="1748505"/>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t>Suppose you have a Collection, c, and you want to create another Collection containing the same elements but with all duplicates </a:t>
            </a:r>
            <a:r>
              <a:rPr lang="en-US" dirty="0" smtClean="0"/>
              <a:t>eliminated ?</a:t>
            </a:r>
            <a:endParaRPr lang="en-US" dirty="0"/>
          </a:p>
        </p:txBody>
      </p:sp>
      <p:sp>
        <p:nvSpPr>
          <p:cNvPr id="5" name="Rounded Rectangle 4"/>
          <p:cNvSpPr/>
          <p:nvPr/>
        </p:nvSpPr>
        <p:spPr>
          <a:xfrm>
            <a:off x="1775012" y="5263806"/>
            <a:ext cx="8950363" cy="67979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Collection&lt;Type&gt; </a:t>
            </a:r>
            <a:r>
              <a:rPr lang="en-US" dirty="0" err="1"/>
              <a:t>noDups</a:t>
            </a:r>
            <a:r>
              <a:rPr lang="en-US" dirty="0"/>
              <a:t> = new </a:t>
            </a:r>
            <a:r>
              <a:rPr lang="en-US" dirty="0" err="1"/>
              <a:t>HashSet</a:t>
            </a:r>
            <a:r>
              <a:rPr lang="en-US" dirty="0"/>
              <a:t>&lt;Type&gt;(c);</a:t>
            </a:r>
          </a:p>
        </p:txBody>
      </p:sp>
    </p:spTree>
    <p:extLst>
      <p:ext uri="{BB962C8B-B14F-4D97-AF65-F5344CB8AC3E}">
        <p14:creationId xmlns:p14="http://schemas.microsoft.com/office/powerpoint/2010/main" val="159263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ppt_x</p:attrName>
                                        </p:attrNameLst>
                                      </p:cBhvr>
                                      <p:tavLst>
                                        <p:tav tm="0">
                                          <p:val>
                                            <p:strVal val="#ppt_x"/>
                                          </p:val>
                                        </p:tav>
                                        <p:tav tm="100000">
                                          <p:val>
                                            <p:strVal val="#ppt_x"/>
                                          </p:val>
                                        </p:tav>
                                      </p:tavLst>
                                    </p:anim>
                                    <p:anim calcmode="lin" valueType="num">
                                      <p:cBhvr>
                                        <p:cTn id="9" dur="2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17126" y="475199"/>
            <a:ext cx="4988866" cy="707886"/>
          </a:xfrm>
          <a:prstGeom prst="rect">
            <a:avLst/>
          </a:prstGeom>
          <a:noFill/>
        </p:spPr>
        <p:txBody>
          <a:bodyPr wrap="none" rtlCol="0">
            <a:spAutoFit/>
          </a:bodyPr>
          <a:lstStyle/>
          <a:p>
            <a:r>
              <a:rPr lang="en-US" sz="4000" b="1" dirty="0">
                <a:effectLst>
                  <a:outerShdw blurRad="38100" dist="38100" dir="2700000" algn="tl">
                    <a:srgbClr val="000000">
                      <a:alpha val="43137"/>
                    </a:srgbClr>
                  </a:outerShdw>
                </a:effectLst>
              </a:rPr>
              <a:t>Set Bulk Operations</a:t>
            </a:r>
          </a:p>
        </p:txBody>
      </p:sp>
      <p:sp>
        <p:nvSpPr>
          <p:cNvPr id="9" name="Rectangle 8"/>
          <p:cNvSpPr/>
          <p:nvPr/>
        </p:nvSpPr>
        <p:spPr>
          <a:xfrm>
            <a:off x="1775013" y="1616485"/>
            <a:ext cx="8950363" cy="439435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82588" y="1748505"/>
            <a:ext cx="8737900" cy="412786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u="sng" dirty="0"/>
              <a:t>s1.containsAll(s2</a:t>
            </a:r>
            <a:r>
              <a:rPr lang="en-US" b="1" u="sng" dirty="0" smtClean="0"/>
              <a:t>)</a:t>
            </a:r>
            <a:r>
              <a:rPr lang="en-US" dirty="0" smtClean="0"/>
              <a:t> - returns </a:t>
            </a:r>
            <a:r>
              <a:rPr lang="en-US" dirty="0"/>
              <a:t>true if s2 is a subset of s1. (s2 is a subset of s1 if set s1 contains all of the elements in s2</a:t>
            </a:r>
            <a:r>
              <a:rPr lang="en-US" dirty="0" smtClean="0"/>
              <a:t>.)</a:t>
            </a:r>
          </a:p>
          <a:p>
            <a:pPr algn="just"/>
            <a:endParaRPr lang="en-US" dirty="0"/>
          </a:p>
          <a:p>
            <a:pPr algn="just"/>
            <a:r>
              <a:rPr lang="en-US" b="1" u="sng" dirty="0" smtClean="0"/>
              <a:t>s1.addAll(s2)</a:t>
            </a:r>
            <a:r>
              <a:rPr lang="en-US" b="1" dirty="0" smtClean="0"/>
              <a:t> - </a:t>
            </a:r>
            <a:r>
              <a:rPr lang="en-US" dirty="0" smtClean="0"/>
              <a:t>transforms </a:t>
            </a:r>
            <a:r>
              <a:rPr lang="en-US" dirty="0"/>
              <a:t>s1 into the union of s1 and s2. (The union of two sets is the set containing all of the elements contained in either set</a:t>
            </a:r>
            <a:r>
              <a:rPr lang="en-US" dirty="0" smtClean="0"/>
              <a:t>.)</a:t>
            </a:r>
          </a:p>
          <a:p>
            <a:pPr algn="just"/>
            <a:endParaRPr lang="en-US" dirty="0"/>
          </a:p>
          <a:p>
            <a:pPr algn="just"/>
            <a:r>
              <a:rPr lang="en-US" b="1" u="sng" dirty="0" smtClean="0"/>
              <a:t>s1.retainAll(s2)</a:t>
            </a:r>
            <a:r>
              <a:rPr lang="en-US" dirty="0"/>
              <a:t> </a:t>
            </a:r>
            <a:r>
              <a:rPr lang="en-US" dirty="0" smtClean="0"/>
              <a:t>- transforms </a:t>
            </a:r>
            <a:r>
              <a:rPr lang="en-US" dirty="0"/>
              <a:t>s1 into the intersection of s1 and s2. (The intersection of two sets is the set containing only the elements common to both sets</a:t>
            </a:r>
            <a:r>
              <a:rPr lang="en-US" dirty="0" smtClean="0"/>
              <a:t>.)</a:t>
            </a:r>
          </a:p>
          <a:p>
            <a:pPr algn="just"/>
            <a:endParaRPr lang="en-US" dirty="0"/>
          </a:p>
          <a:p>
            <a:pPr algn="just"/>
            <a:r>
              <a:rPr lang="en-US" b="1" u="sng" dirty="0"/>
              <a:t>s1.removeAll(s2</a:t>
            </a:r>
            <a:r>
              <a:rPr lang="en-US" b="1" u="sng" dirty="0" smtClean="0"/>
              <a:t>)</a:t>
            </a:r>
            <a:r>
              <a:rPr lang="en-US" dirty="0"/>
              <a:t> </a:t>
            </a:r>
            <a:r>
              <a:rPr lang="en-US" dirty="0" smtClean="0"/>
              <a:t>- </a:t>
            </a:r>
            <a:r>
              <a:rPr lang="en-US" dirty="0"/>
              <a:t>transforms s1 into the (asymmetric) set difference of s1 and s2. (For example, the set difference of s1 minus s2 is the set containing all of the elements found in s1 but not in s2.)</a:t>
            </a:r>
          </a:p>
        </p:txBody>
      </p:sp>
    </p:spTree>
    <p:extLst>
      <p:ext uri="{BB962C8B-B14F-4D97-AF65-F5344CB8AC3E}">
        <p14:creationId xmlns:p14="http://schemas.microsoft.com/office/powerpoint/2010/main" val="32161529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7723" y="332383"/>
            <a:ext cx="3238387" cy="769441"/>
          </a:xfrm>
          <a:prstGeom prst="rect">
            <a:avLst/>
          </a:prstGeom>
          <a:noFill/>
        </p:spPr>
        <p:txBody>
          <a:bodyPr wrap="none" rtlCol="0">
            <a:spAutoFit/>
          </a:bodyPr>
          <a:lstStyle/>
          <a:p>
            <a:r>
              <a:rPr lang="en-US" sz="4400" b="1" dirty="0" smtClean="0">
                <a:effectLst>
                  <a:outerShdw blurRad="38100" dist="38100" dir="2700000" algn="tl">
                    <a:srgbClr val="000000">
                      <a:alpha val="43137"/>
                    </a:srgbClr>
                  </a:outerShdw>
                </a:effectLst>
              </a:rPr>
              <a:t>Conclusion</a:t>
            </a:r>
            <a:endParaRPr lang="en-US" sz="4400" b="1" dirty="0">
              <a:effectLst>
                <a:outerShdw blurRad="38100" dist="38100" dir="2700000" algn="tl">
                  <a:srgbClr val="000000">
                    <a:alpha val="43137"/>
                  </a:srgbClr>
                </a:outerShdw>
              </a:effectLst>
            </a:endParaRPr>
          </a:p>
        </p:txBody>
      </p:sp>
      <p:sp>
        <p:nvSpPr>
          <p:cNvPr id="9" name="Rectangle 8"/>
          <p:cNvSpPr/>
          <p:nvPr/>
        </p:nvSpPr>
        <p:spPr>
          <a:xfrm>
            <a:off x="1721225" y="2100581"/>
            <a:ext cx="8950363" cy="31841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828800" y="2232601"/>
            <a:ext cx="8737900" cy="294451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smtClean="0"/>
              <a:t>Sets can be used to store only Unique Data. So if our Requirement needs to have only unique values we need to </a:t>
            </a:r>
            <a:r>
              <a:rPr lang="en-US" smtClean="0"/>
              <a:t>use Sets.</a:t>
            </a:r>
            <a:endParaRPr lang="en-US" dirty="0"/>
          </a:p>
        </p:txBody>
      </p:sp>
    </p:spTree>
    <p:extLst>
      <p:ext uri="{BB962C8B-B14F-4D97-AF65-F5344CB8AC3E}">
        <p14:creationId xmlns:p14="http://schemas.microsoft.com/office/powerpoint/2010/main" val="14079716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86</TotalTime>
  <Words>409</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Century Gothic</vt: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Agarwal, Prerak</dc:creator>
  <cp:lastModifiedBy>Agarwal, Prerak</cp:lastModifiedBy>
  <cp:revision>26</cp:revision>
  <dcterms:created xsi:type="dcterms:W3CDTF">2020-02-11T11:05:45Z</dcterms:created>
  <dcterms:modified xsi:type="dcterms:W3CDTF">2020-02-11T12:32:39Z</dcterms:modified>
</cp:coreProperties>
</file>